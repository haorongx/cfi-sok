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59" r:id="rId1"/>
  </p:sldMasterIdLst>
  <p:notesMasterIdLst>
    <p:notesMasterId r:id="rId11"/>
  </p:notesMasterIdLst>
  <p:sldIdLst>
    <p:sldId id="256" r:id="rId2"/>
    <p:sldId id="257" r:id="rId3"/>
    <p:sldId id="266" r:id="rId4"/>
    <p:sldId id="258" r:id="rId5"/>
    <p:sldId id="267" r:id="rId6"/>
    <p:sldId id="261" r:id="rId7"/>
    <p:sldId id="262" r:id="rId8"/>
    <p:sldId id="264" r:id="rId9"/>
    <p:sldId id="265" r:id="rId10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505" autoAdjust="0"/>
    <p:restoredTop sz="94660"/>
  </p:normalViewPr>
  <p:slideViewPr>
    <p:cSldViewPr snapToGrid="0">
      <p:cViewPr>
        <p:scale>
          <a:sx n="101" d="100"/>
          <a:sy n="101" d="100"/>
        </p:scale>
        <p:origin x="400" y="2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1413D01-B77F-49A7-BA0C-D463A801011E}" type="datetimeFigureOut">
              <a:rPr lang="zh-CN" altLang="en-US" smtClean="0"/>
              <a:t>2026/8/30</a:t>
            </a:fld>
            <a:endParaRPr lang="zh-CN" alt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7D8AC5D-25FE-4C63-A289-AC8077368C2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0652983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Picture citations needed!</a:t>
            </a:r>
            <a:endParaRPr lang="zh-CN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7D8AC5D-25FE-4C63-A289-AC8077368C24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3795056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Replace with a colored diagram. Illustrate forward vs backward control flow transfer</a:t>
            </a:r>
            <a:endParaRPr lang="zh-CN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7D8AC5D-25FE-4C63-A289-AC8077368C24}" type="slidenum">
              <a:rPr lang="zh-CN" altLang="en-US" smtClean="0"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2153406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F9170E-D163-7FD0-65CE-6D1E5AE618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1D17769-FD17-D344-C6B7-1504473982E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11B8490-933F-215B-4ED5-52EAB9860F9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Replace with a colored diagram. Illustrate forward vs backward control flow transfer</a:t>
            </a:r>
            <a:endParaRPr lang="zh-CN" alt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C651178-4082-9999-455E-8B5B957C2C8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7D8AC5D-25FE-4C63-A289-AC8077368C24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8152679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Again, replace with colored figure.</a:t>
            </a:r>
          </a:p>
          <a:p>
            <a:r>
              <a:rPr lang="en-US" altLang="zh-CN" dirty="0"/>
              <a:t>Insert a Venn chart: Universal = Backward and Forward</a:t>
            </a:r>
            <a:endParaRPr lang="zh-CN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7D8AC5D-25FE-4C63-A289-AC8077368C24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1333254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5F74DB-127E-1DC6-CF94-6CD5A1B17D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5D7AC73-52F4-E26D-FB4B-9BFA7BE5795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B626EAA-DFEA-D894-EAF1-335D7A41B1C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Replace with other fine grained cfi</a:t>
            </a:r>
            <a:endParaRPr lang="zh-CN" alt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70068E4-261F-2C64-AD36-1AF1DD3B350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7D8AC5D-25FE-4C63-A289-AC8077368C24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5138735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60B46A-23F7-F53F-502A-75DF48C478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283FA73-4D4C-116F-BCB7-A75117ED7C6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02A0D00-3EAC-D731-4C4E-8777805887F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Storage overhead (in-place signing); Deep recursion (move to isolated memory)</a:t>
            </a:r>
            <a:endParaRPr lang="zh-CN" alt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3AA669C-59D0-DEA9-23EC-2E7649D2D29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7D8AC5D-25FE-4C63-A289-AC8077368C24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027836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517B13-97C6-E0E2-64C6-D3DACB75D4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082E24B-6801-9594-907F-BCE4DCF8F60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936FC8A-F503-1543-2F33-A5CB4540C5C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Replace with better diagrams</a:t>
            </a:r>
            <a:endParaRPr lang="zh-CN" alt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267D5E5-49AA-FF60-59C4-F3220B4D51D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7D8AC5D-25FE-4C63-A289-AC8077368C24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5950014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F6AC56-1F52-978A-9CAC-C2D6669DEF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87348EC-67F1-AA90-91E9-85F87F68736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7215D93-33D8-D936-A54F-03260A4357A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Replace with actual conclusions</a:t>
            </a:r>
            <a:endParaRPr lang="zh-CN" alt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F864B57-55DE-9ACC-8DB4-D7EC0105DF3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7D8AC5D-25FE-4C63-A289-AC8077368C24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6987833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FBFBA4-07DA-0131-63BE-554D0C675EB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F410569-3936-693A-50A3-68DCC7DF4C9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altLang="zh-CN"/>
              <a:t>Click to edit Master subtitle style</a:t>
            </a:r>
            <a:endParaRPr lang="zh-CN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186EFB0-2221-CB1C-99FD-C4590E9C73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7314DF-5B72-4D16-A6CA-15559770703F}" type="datetimeFigureOut">
              <a:rPr lang="zh-CN" altLang="en-US" smtClean="0"/>
              <a:t>2026/8/30</a:t>
            </a:fld>
            <a:endParaRPr lang="zh-CN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EB156AD-AEEC-DF7C-F60A-7A418983B4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43693F3-5572-3E82-A4D2-09685700E6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B3BF-B5BC-4DE7-ACAE-8D05719BDFB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3946707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A6DDA6-0318-6AB1-7769-CBE984AECE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1BFF37-FA19-9ED3-EC5B-723CFB22C8F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5DE5D5A-F45B-4C38-FA9E-F855731C3D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7314DF-5B72-4D16-A6CA-15559770703F}" type="datetimeFigureOut">
              <a:rPr lang="zh-CN" altLang="en-US" smtClean="0"/>
              <a:t>2026/8/30</a:t>
            </a:fld>
            <a:endParaRPr lang="zh-CN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F2932CE-9FF9-2C43-3CD1-873DAD157B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11FDF8A-C76D-FF96-58E8-22FC841AA4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B3BF-B5BC-4DE7-ACAE-8D05719BDFB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6276829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EF6B30-DB49-6FC3-4D54-C22B09FAEE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948CE4B-1F73-020F-27DC-0BEDE31F1A5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89290E1-111B-1F50-73A0-9516F781E7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7314DF-5B72-4D16-A6CA-15559770703F}" type="datetimeFigureOut">
              <a:rPr lang="zh-CN" altLang="en-US" smtClean="0"/>
              <a:t>2026/8/30</a:t>
            </a:fld>
            <a:endParaRPr lang="zh-CN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3E28221-79CD-8AEE-4A16-5CA3C2089E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436E58D-F2F3-6D76-6A4F-17E0641854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B3BF-B5BC-4DE7-ACAE-8D05719BDFB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6566860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09C6A3-0C1A-57E5-068C-87EC3A8090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0C50151-6B4C-E241-13B8-8582702B4A9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9D97F0D-BCD6-6D4D-7297-B8A3CF5F434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390008E-4890-D476-3E13-C24B116752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7314DF-5B72-4D16-A6CA-15559770703F}" type="datetimeFigureOut">
              <a:rPr lang="zh-CN" altLang="en-US" smtClean="0"/>
              <a:t>2026/8/30</a:t>
            </a:fld>
            <a:endParaRPr lang="zh-CN" alt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5286BEE-5EF1-8EBA-B4A0-AAB8B98042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0C4509F-98A7-973C-7AF3-375C2BF57A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B3BF-B5BC-4DE7-ACAE-8D05719BDFB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5765275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735AE3-BCE9-AAA0-8998-820E203A3E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CE4EBFA-DE73-B8D2-F8CA-E8CA68EE38D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FCD3D3A-1E0F-806D-8D1E-977382A62C1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BFD7ABB-5DBB-23E4-9BB9-67AEDA00FF9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C82ACDC-2E27-50A3-A3CB-42E28674135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E21F0B8-E2C4-D577-F9A6-05208DF354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7314DF-5B72-4D16-A6CA-15559770703F}" type="datetimeFigureOut">
              <a:rPr lang="zh-CN" altLang="en-US" smtClean="0"/>
              <a:t>2026/8/30</a:t>
            </a:fld>
            <a:endParaRPr lang="zh-CN" alt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E88141D-F9E2-3883-7E03-672615D982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EAD518A-251C-F983-D9B7-6B352F3B74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B3BF-B5BC-4DE7-ACAE-8D05719BDFB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6306238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393160-9113-1BDF-BF03-D1154F6C87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775221C-6E64-3778-7486-392C56CEFD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7314DF-5B72-4D16-A6CA-15559770703F}" type="datetimeFigureOut">
              <a:rPr lang="zh-CN" altLang="en-US" smtClean="0"/>
              <a:t>2026/8/30</a:t>
            </a:fld>
            <a:endParaRPr lang="zh-CN" alt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76B1C4B-4378-6640-C974-5EAF91B9E9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FC99FA1-45FF-A31B-44E4-B38E5762D5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B3BF-B5BC-4DE7-ACAE-8D05719BDFB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4255227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F0F0A23-735A-6145-6F18-30EEA2BE88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7314DF-5B72-4D16-A6CA-15559770703F}" type="datetimeFigureOut">
              <a:rPr lang="zh-CN" altLang="en-US" smtClean="0"/>
              <a:t>2026/8/30</a:t>
            </a:fld>
            <a:endParaRPr lang="zh-CN" alt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A6F9DFA-8AD6-4376-59DE-BC5DEEFFC8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3F09CD3-D718-D1E9-9484-22D6023A22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B3BF-B5BC-4DE7-ACAE-8D05719BDFB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0478800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0A219D-D78D-BEDE-0885-E8F7175556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3D80003-48AA-E209-39C7-79CB353B10C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871F372-DC0D-078F-BF94-C5AD03C675D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D7EA5C7-70C6-7D88-0B06-CBFC2F0D73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7314DF-5B72-4D16-A6CA-15559770703F}" type="datetimeFigureOut">
              <a:rPr lang="zh-CN" altLang="en-US" smtClean="0"/>
              <a:t>2026/8/30</a:t>
            </a:fld>
            <a:endParaRPr lang="zh-CN" alt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0331A58-0A31-AFC7-8237-4AB1837A91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439C104-FD6A-DCC7-FC9E-82163539D8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B3BF-B5BC-4DE7-ACAE-8D05719BDFB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0672129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209955-BEA3-E4F2-7F83-BC3A6A9861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EC78AFF-642B-BA93-874B-294CD54032D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B7533BB-D55A-3DF3-3785-286D0598A21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FCD8DE4-79B3-FA64-42BA-881658572B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7314DF-5B72-4D16-A6CA-15559770703F}" type="datetimeFigureOut">
              <a:rPr lang="zh-CN" altLang="en-US" smtClean="0"/>
              <a:t>2026/8/30</a:t>
            </a:fld>
            <a:endParaRPr lang="zh-CN" alt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F7ECA2D-3769-4FC7-5372-6A4F5E8A5A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241C6FB-434E-A0B3-AC0B-323EAC043B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B3BF-B5BC-4DE7-ACAE-8D05719BDFB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6338555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893187-2366-4F3D-6673-6D27BF9EA6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2734725-2AF4-4FF0-78A6-4F5162CAE90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F032058-8F8F-166C-F619-3B7B075358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7314DF-5B72-4D16-A6CA-15559770703F}" type="datetimeFigureOut">
              <a:rPr lang="zh-CN" altLang="en-US" smtClean="0"/>
              <a:t>2026/8/30</a:t>
            </a:fld>
            <a:endParaRPr lang="zh-CN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7843429-3248-1B4F-4E9E-13BF103D20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6AD4739-6A7F-1675-F764-ADC8A98B6F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B3BF-B5BC-4DE7-ACAE-8D05719BDFB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4884367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0B3382C-F626-8AFE-8D1D-05DEDFD3634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C3B764C-B33D-3131-9066-7E7D218270E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913FEDE-2D35-10FF-ABA8-2A1A94FE55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7314DF-5B72-4D16-A6CA-15559770703F}" type="datetimeFigureOut">
              <a:rPr lang="zh-CN" altLang="en-US" smtClean="0"/>
              <a:t>2026/8/30</a:t>
            </a:fld>
            <a:endParaRPr lang="zh-CN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62049AA-7B2B-AD2D-2E03-3AEF5FDB14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890888-6AD4-0D95-561D-2444CCB286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B3BF-B5BC-4DE7-ACAE-8D05719BDFB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9695473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">
    <p:bg>
      <p:bgPr>
        <a:solidFill>
          <a:schemeClr val="bg2">
            <a:alpha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itle 22">
            <a:extLst>
              <a:ext uri="{FF2B5EF4-FFF2-40B4-BE49-F238E27FC236}">
                <a16:creationId xmlns:a16="http://schemas.microsoft.com/office/drawing/2014/main" id="{0AD30B65-D9DC-054D-49C4-AE0D1ECCC6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9660" y="1981200"/>
            <a:ext cx="5893516" cy="2921253"/>
          </a:xfrm>
        </p:spPr>
        <p:txBody>
          <a:bodyPr/>
          <a:lstStyle>
            <a:lvl1pPr>
              <a:defRPr sz="7200"/>
            </a:lvl1pPr>
          </a:lstStyle>
          <a:p>
            <a:r>
              <a:rPr lang="en-US" altLang="zh-CN"/>
              <a:t>Click to edit Master title style</a:t>
            </a:r>
            <a:endParaRPr lang="en-US"/>
          </a:p>
        </p:txBody>
      </p:sp>
      <p:sp>
        <p:nvSpPr>
          <p:cNvPr id="25" name="Subtitle 2">
            <a:extLst>
              <a:ext uri="{FF2B5EF4-FFF2-40B4-BE49-F238E27FC236}">
                <a16:creationId xmlns:a16="http://schemas.microsoft.com/office/drawing/2014/main" id="{CC0B5DB4-20B0-BFB3-1DE8-15B9B681E2A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99659" y="4902454"/>
            <a:ext cx="4898036" cy="1243513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lnSpc>
                <a:spcPct val="120000"/>
              </a:lnSpc>
              <a:spcBef>
                <a:spcPts val="0"/>
              </a:spcBef>
              <a:buNone/>
              <a:defRPr lang="en-US" sz="1600" cap="none" baseline="0" dirty="0"/>
            </a:lvl1pPr>
          </a:lstStyle>
          <a:p>
            <a:pPr lvl="0"/>
            <a:r>
              <a:rPr lang="en-US" altLang="zh-CN"/>
              <a:t>Click to edit Master subtitle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914ACD6-E7C3-5888-56A4-A5758B74BB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00790" y="251847"/>
            <a:ext cx="3256613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12BC67A-8ACB-271C-C3F7-FCA06B61BDD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00790" y="6341919"/>
            <a:ext cx="1806461" cy="365125"/>
          </a:xfrm>
        </p:spPr>
        <p:txBody>
          <a:bodyPr/>
          <a:lstStyle>
            <a:lvl1pPr algn="l">
              <a:defRPr/>
            </a:lvl1pPr>
          </a:lstStyle>
          <a:p>
            <a:fld id="{9D7314DF-5B72-4D16-A6CA-15559770703F}" type="datetimeFigureOut">
              <a:rPr lang="zh-CN" altLang="en-US" smtClean="0"/>
              <a:t>2026/8/30</a:t>
            </a:fld>
            <a:endParaRPr lang="zh-CN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687E34A-F1F5-10C0-05F1-52EBC543E6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B3BF-B5BC-4DE7-ACAE-8D05719BDFB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83595941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3EF2E21-3CA9-5C1D-8450-1A6DB4683B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9A7D8B9-A0D1-5F22-5097-FCBE19B69ED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EDE68AE-5922-3C16-60FF-E1FEF75945B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D7314DF-5B72-4D16-A6CA-15559770703F}" type="datetimeFigureOut">
              <a:rPr lang="zh-CN" altLang="en-US" smtClean="0"/>
              <a:t>2026/8/30</a:t>
            </a:fld>
            <a:endParaRPr lang="zh-CN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3A1953B-0387-397D-304A-6CBB6BE21AC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7361F54-5E01-EBE5-CFE4-CDFDC7E3C9C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113B3BF-B5BC-4DE7-ACAE-8D05719BDFB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678430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60" r:id="rId1"/>
    <p:sldLayoutId id="2147483761" r:id="rId2"/>
    <p:sldLayoutId id="2147483762" r:id="rId3"/>
    <p:sldLayoutId id="2147483763" r:id="rId4"/>
    <p:sldLayoutId id="2147483764" r:id="rId5"/>
    <p:sldLayoutId id="2147483765" r:id="rId6"/>
    <p:sldLayoutId id="2147483766" r:id="rId7"/>
    <p:sldLayoutId id="2147483767" r:id="rId8"/>
    <p:sldLayoutId id="2147483768" r:id="rId9"/>
    <p:sldLayoutId id="2147483769" r:id="rId10"/>
    <p:sldLayoutId id="2147483770" r:id="rId11"/>
    <p:sldLayoutId id="2147483771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Relationship Id="rId4" Type="http://schemas.openxmlformats.org/officeDocument/2006/relationships/hyperlink" Target="https://www.imperva.com/learn/application-security/wannacry-ransomware/" TargetMode="Externa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.png"/><Relationship Id="rId4" Type="http://schemas.openxmlformats.org/officeDocument/2006/relationships/hyperlink" Target="https://www.linkedin.com/pulse/untangling-pointer-authentication-pac-deeper-dive-samarth-parikh-kycyc/" TargetMode="Externa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techcommunity.microsoft.com/blog/windowsosplatform/understanding-hardware-enforced-stack-protection/1247815" TargetMode="Externa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725DC7BF-3E57-CA71-E993-F66BE441DD3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130" y="75833"/>
            <a:ext cx="8602585" cy="6494952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558303A3-6125-5635-FFC6-F74F0BC3C544}"/>
              </a:ext>
            </a:extLst>
          </p:cNvPr>
          <p:cNvSpPr txBox="1"/>
          <p:nvPr/>
        </p:nvSpPr>
        <p:spPr>
          <a:xfrm>
            <a:off x="8768861" y="2444261"/>
            <a:ext cx="320333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 dirty="0"/>
              <a:t>Buffer overflow allows ransomware</a:t>
            </a:r>
            <a:r>
              <a:rPr lang="zh-CN" altLang="en-US" sz="2400" b="1" dirty="0"/>
              <a:t> </a:t>
            </a:r>
            <a:r>
              <a:rPr lang="en-US" altLang="zh-CN" sz="2400" b="1" dirty="0"/>
              <a:t>to</a:t>
            </a:r>
            <a:r>
              <a:rPr lang="zh-CN" altLang="en-US" sz="2400" b="1" dirty="0"/>
              <a:t> </a:t>
            </a:r>
            <a:r>
              <a:rPr lang="en-US" altLang="zh-CN" sz="2400" b="1" dirty="0"/>
              <a:t>run</a:t>
            </a:r>
            <a:r>
              <a:rPr lang="zh-CN" altLang="en-US" sz="2400" b="1" dirty="0"/>
              <a:t> </a:t>
            </a:r>
            <a:r>
              <a:rPr lang="en-US" altLang="zh-CN" sz="2400" b="1" dirty="0"/>
              <a:t>privileged</a:t>
            </a:r>
            <a:r>
              <a:rPr lang="zh-CN" altLang="en-US" sz="2400" b="1" dirty="0"/>
              <a:t> </a:t>
            </a:r>
            <a:r>
              <a:rPr lang="en-US" altLang="zh-CN" sz="2400" b="1" dirty="0"/>
              <a:t>code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3A02396-3B91-3A39-2A93-94919CA81911}"/>
              </a:ext>
            </a:extLst>
          </p:cNvPr>
          <p:cNvSpPr txBox="1"/>
          <p:nvPr/>
        </p:nvSpPr>
        <p:spPr>
          <a:xfrm>
            <a:off x="146538" y="6582112"/>
            <a:ext cx="1124859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zh-CN" sz="1000" dirty="0">
                <a:solidFill>
                  <a:schemeClr val="accent3"/>
                </a:solidFill>
              </a:rPr>
              <a:t>“What is WannaCry | Ransomware Attack Examples | Imperva,” Learning Center. Accessed: Aug. 21, 2026. [Online]. Available: </a:t>
            </a:r>
            <a:r>
              <a:rPr lang="zh-CN" altLang="zh-CN" sz="1000" dirty="0">
                <a:solidFill>
                  <a:schemeClr val="accent3"/>
                </a:solidFill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https://www.imperva.com/learn/application-security/wannacry-ransomware/</a:t>
            </a:r>
            <a:endParaRPr lang="zh-CN" altLang="zh-CN" sz="1000" dirty="0">
              <a:solidFill>
                <a:schemeClr val="accent3"/>
              </a:solidFill>
            </a:endParaRPr>
          </a:p>
          <a:p>
            <a:endParaRPr lang="zh-CN" altLang="en-US" sz="1000" dirty="0">
              <a:solidFill>
                <a:schemeClr val="accent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368898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5F7AD1C2-26B8-1C2F-85CE-EBAFBA011A92}"/>
              </a:ext>
            </a:extLst>
          </p:cNvPr>
          <p:cNvSpPr txBox="1"/>
          <p:nvPr/>
        </p:nvSpPr>
        <p:spPr>
          <a:xfrm>
            <a:off x="476903" y="6457890"/>
            <a:ext cx="1137490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00" dirty="0">
                <a:solidFill>
                  <a:schemeClr val="accent3"/>
                </a:solidFill>
              </a:rPr>
              <a:t>Image created using ChatGPT with prompt “</a:t>
            </a:r>
            <a:r>
              <a:rPr lang="zh-CN" altLang="zh-CN" sz="1000" dirty="0">
                <a:solidFill>
                  <a:schemeClr val="accent3"/>
                </a:solidFill>
              </a:rPr>
              <a:t>generate a colored diagram to illustrate a control-flow graph, and in this graph illustrate forward-edge control-flow transfer vs backward control-flow transfer</a:t>
            </a:r>
            <a:r>
              <a:rPr lang="en-US" altLang="zh-CN" sz="1000" dirty="0">
                <a:solidFill>
                  <a:schemeClr val="accent3"/>
                </a:solidFill>
              </a:rPr>
              <a:t>,</a:t>
            </a:r>
            <a:r>
              <a:rPr lang="zh-CN" altLang="zh-CN" sz="1000" dirty="0">
                <a:solidFill>
                  <a:schemeClr val="accent3"/>
                </a:solidFill>
              </a:rPr>
              <a:t> Use minimal to no text</a:t>
            </a:r>
            <a:r>
              <a:rPr lang="en-US" altLang="zh-CN" sz="1000" dirty="0">
                <a:solidFill>
                  <a:schemeClr val="accent3"/>
                </a:solidFill>
              </a:rPr>
              <a:t>”</a:t>
            </a:r>
            <a:endParaRPr lang="zh-CN" altLang="en-US" sz="1000" dirty="0">
              <a:solidFill>
                <a:schemeClr val="accent3"/>
              </a:solidFill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0FBC8C4-D202-16A0-6879-B6FEE532285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60160" y="306766"/>
            <a:ext cx="8608388" cy="57389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4714964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BCB288-D002-FE00-0FAA-E017C13D74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EECBF4F9-4A18-9F7D-D54A-CE52B8AAF513}"/>
              </a:ext>
            </a:extLst>
          </p:cNvPr>
          <p:cNvSpPr txBox="1"/>
          <p:nvPr/>
        </p:nvSpPr>
        <p:spPr>
          <a:xfrm>
            <a:off x="476903" y="6457890"/>
            <a:ext cx="1137490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00" dirty="0">
                <a:solidFill>
                  <a:schemeClr val="accent3"/>
                </a:solidFill>
              </a:rPr>
              <a:t>Image created using ChatGPT with prompt “</a:t>
            </a:r>
            <a:r>
              <a:rPr lang="zh-CN" altLang="zh-CN" sz="1000" dirty="0">
                <a:solidFill>
                  <a:schemeClr val="accent3"/>
                </a:solidFill>
              </a:rPr>
              <a:t>based on this image, generate a diagram to illustrate how control-flow diverting can occur, such as control-flow bending, etc. Use other arrows and lines to represent the diverted control flow. This is intended for an academic presentation </a:t>
            </a:r>
            <a:r>
              <a:rPr lang="en-US" altLang="zh-CN" sz="1000" dirty="0">
                <a:solidFill>
                  <a:schemeClr val="accent3"/>
                </a:solidFill>
              </a:rPr>
              <a:t>”</a:t>
            </a:r>
            <a:endParaRPr lang="zh-CN" altLang="en-US" sz="1000" dirty="0">
              <a:solidFill>
                <a:schemeClr val="accent3"/>
              </a:solidFill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2C2DA670-E035-AC66-73EB-ED5E53897E9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5043" y="312667"/>
            <a:ext cx="2936258" cy="5701726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34611AE3-1D2A-8E66-E5F6-73F5FF75A26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15049" y="312667"/>
            <a:ext cx="3329097" cy="5701726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429F2BCB-BB8A-576F-F1EC-3B97F610E09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26429" y="277270"/>
            <a:ext cx="2672574" cy="57725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65156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4A6A937C-224D-9610-627F-377E9B08A8B7}"/>
              </a:ext>
            </a:extLst>
          </p:cNvPr>
          <p:cNvSpPr txBox="1"/>
          <p:nvPr/>
        </p:nvSpPr>
        <p:spPr>
          <a:xfrm>
            <a:off x="3844335" y="1992137"/>
            <a:ext cx="522931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3200" b="1" dirty="0"/>
              <a:t>Control Flow Integrity (CFI)</a:t>
            </a:r>
            <a:endParaRPr lang="zh-CN" altLang="en-US" sz="3200" b="1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9B5870A-D786-BF39-F3C8-6D7E85FD9FD0}"/>
              </a:ext>
            </a:extLst>
          </p:cNvPr>
          <p:cNvSpPr txBox="1"/>
          <p:nvPr/>
        </p:nvSpPr>
        <p:spPr>
          <a:xfrm>
            <a:off x="3039294" y="3376111"/>
            <a:ext cx="4615559" cy="138499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= Dedicated hardware support</a:t>
            </a:r>
          </a:p>
          <a:p>
            <a:r>
              <a:rPr lang="en-US" altLang="zh-CN" sz="2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                   +</a:t>
            </a:r>
          </a:p>
          <a:p>
            <a:r>
              <a:rPr lang="en-US" altLang="zh-CN" sz="2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     Software monitoring</a:t>
            </a:r>
            <a:endParaRPr lang="zh-CN" altLang="en-US" sz="28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C070A5A5-A4E8-BD2B-0E38-B85AA5D50CED}"/>
              </a:ext>
            </a:extLst>
          </p:cNvPr>
          <p:cNvSpPr txBox="1"/>
          <p:nvPr/>
        </p:nvSpPr>
        <p:spPr>
          <a:xfrm>
            <a:off x="442756" y="1992136"/>
            <a:ext cx="326499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3200" u="sng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Hardware-assisted</a:t>
            </a:r>
            <a:endParaRPr lang="zh-CN" altLang="en-US" sz="3200" u="sng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277414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23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19F6AD01-0EB9-BDF4-9DBE-4546AB8D22CE}"/>
              </a:ext>
            </a:extLst>
          </p:cNvPr>
          <p:cNvSpPr txBox="1"/>
          <p:nvPr/>
        </p:nvSpPr>
        <p:spPr>
          <a:xfrm>
            <a:off x="4904045" y="5172468"/>
            <a:ext cx="168668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800" b="1" dirty="0"/>
              <a:t>Universal</a:t>
            </a:r>
            <a:endParaRPr lang="zh-CN" altLang="en-US" sz="2800" b="1" dirty="0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11C6F83B-C95E-5A19-AB19-DF9801426559}"/>
              </a:ext>
            </a:extLst>
          </p:cNvPr>
          <p:cNvSpPr/>
          <p:nvPr/>
        </p:nvSpPr>
        <p:spPr>
          <a:xfrm>
            <a:off x="6042492" y="2961091"/>
            <a:ext cx="2023435" cy="2003155"/>
          </a:xfrm>
          <a:prstGeom prst="ellipse">
            <a:avLst/>
          </a:prstGeom>
          <a:noFill/>
          <a:ln w="57150"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FB57FE26-2F5E-7788-3220-07708C0FACBA}"/>
              </a:ext>
            </a:extLst>
          </p:cNvPr>
          <p:cNvSpPr/>
          <p:nvPr/>
        </p:nvSpPr>
        <p:spPr>
          <a:xfrm>
            <a:off x="3524970" y="1789112"/>
            <a:ext cx="4649389" cy="4286531"/>
          </a:xfrm>
          <a:prstGeom prst="ellipse">
            <a:avLst/>
          </a:prstGeom>
          <a:noFill/>
          <a:ln w="57150"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9EFAC94-3580-B8CD-2EE7-53323EC8C7F7}"/>
              </a:ext>
            </a:extLst>
          </p:cNvPr>
          <p:cNvSpPr txBox="1"/>
          <p:nvPr/>
        </p:nvSpPr>
        <p:spPr>
          <a:xfrm>
            <a:off x="3808094" y="3504893"/>
            <a:ext cx="1753091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b="1" dirty="0"/>
              <a:t>Forward-Edge</a:t>
            </a:r>
            <a:endParaRPr lang="zh-CN" altLang="en-US" sz="2800" b="1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937230A-D2F8-21B7-E936-3152A15DA558}"/>
              </a:ext>
            </a:extLst>
          </p:cNvPr>
          <p:cNvSpPr txBox="1"/>
          <p:nvPr/>
        </p:nvSpPr>
        <p:spPr>
          <a:xfrm>
            <a:off x="6149106" y="3504894"/>
            <a:ext cx="2064774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b="1" dirty="0"/>
              <a:t>Backward-Edge</a:t>
            </a:r>
            <a:endParaRPr lang="zh-CN" altLang="en-US" sz="2800" b="1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CBC26C5-9C3F-4FA8-0B31-CBDF56FC8631}"/>
              </a:ext>
            </a:extLst>
          </p:cNvPr>
          <p:cNvSpPr txBox="1"/>
          <p:nvPr/>
        </p:nvSpPr>
        <p:spPr>
          <a:xfrm>
            <a:off x="4111850" y="782357"/>
            <a:ext cx="347563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3200" b="1" dirty="0"/>
              <a:t>A New Taxonomy</a:t>
            </a:r>
            <a:endParaRPr lang="zh-CN" altLang="en-US" sz="3200" b="1" dirty="0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9AFA35A9-69E5-7D9F-A988-BF78A2B42D92}"/>
              </a:ext>
            </a:extLst>
          </p:cNvPr>
          <p:cNvSpPr/>
          <p:nvPr/>
        </p:nvSpPr>
        <p:spPr>
          <a:xfrm>
            <a:off x="3672923" y="2961091"/>
            <a:ext cx="2023435" cy="2003155"/>
          </a:xfrm>
          <a:prstGeom prst="ellipse">
            <a:avLst/>
          </a:prstGeom>
          <a:noFill/>
          <a:ln w="57150"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1750980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34080B-430B-9A3B-DDEA-A3DB73F319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A7E36A9B-194E-672E-6EEC-DEE51DECDF52}"/>
              </a:ext>
            </a:extLst>
          </p:cNvPr>
          <p:cNvSpPr txBox="1"/>
          <p:nvPr/>
        </p:nvSpPr>
        <p:spPr>
          <a:xfrm>
            <a:off x="3663118" y="234462"/>
            <a:ext cx="464101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3200" dirty="0"/>
              <a:t>Forward-Edge Protection</a:t>
            </a:r>
            <a:endParaRPr lang="zh-CN" altLang="en-US" sz="32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9E4940D-DB48-66DA-1948-77CA29622D5B}"/>
              </a:ext>
            </a:extLst>
          </p:cNvPr>
          <p:cNvSpPr txBox="1"/>
          <p:nvPr/>
        </p:nvSpPr>
        <p:spPr>
          <a:xfrm>
            <a:off x="1489550" y="955440"/>
            <a:ext cx="862287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 dirty="0"/>
              <a:t>Core idea: Mark </a:t>
            </a:r>
            <a:r>
              <a:rPr lang="en-US" altLang="zh-CN" sz="2400" b="1" dirty="0"/>
              <a:t>legitimate targets</a:t>
            </a:r>
            <a:r>
              <a:rPr lang="en-US" altLang="zh-CN" sz="2400" dirty="0"/>
              <a:t> / Harden </a:t>
            </a:r>
            <a:r>
              <a:rPr lang="en-US" altLang="zh-CN" sz="2400" b="1" dirty="0"/>
              <a:t>Function Pointers</a:t>
            </a:r>
            <a:endParaRPr lang="zh-CN" altLang="en-US" sz="2400" b="1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7DD9BB9E-D4A7-EB62-5C84-35101459E2F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6037" y="1368400"/>
            <a:ext cx="4178879" cy="4380271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45F1C2FE-A940-9E2D-0BA9-49118F7F0CDD}"/>
              </a:ext>
            </a:extLst>
          </p:cNvPr>
          <p:cNvSpPr txBox="1"/>
          <p:nvPr/>
        </p:nvSpPr>
        <p:spPr>
          <a:xfrm>
            <a:off x="408549" y="6346539"/>
            <a:ext cx="11374902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00" dirty="0">
                <a:solidFill>
                  <a:schemeClr val="accent3"/>
                </a:solidFill>
              </a:rPr>
              <a:t>Image created using ChatGPT with prompt “</a:t>
            </a:r>
            <a:r>
              <a:rPr lang="zh-CN" altLang="zh-CN" sz="1000" dirty="0">
                <a:solidFill>
                  <a:schemeClr val="accent3"/>
                </a:solidFill>
              </a:rPr>
              <a:t>Generate a image to illustrate control-flow integrity defenses that protect indirect calls: generate a graph-like not tree-like CFG, illustrate how CFI marks legitimate indirect jump targets. Use no text.</a:t>
            </a:r>
            <a:r>
              <a:rPr lang="en-US" altLang="zh-CN" sz="1000" dirty="0">
                <a:solidFill>
                  <a:schemeClr val="accent3"/>
                </a:solidFill>
              </a:rPr>
              <a:t>” (left);“Untangling Pointer Authentication (PAC) - The Deeper Dive! | LinkedIn.” Accessed: Aug. 30, 2026. [Online]. Available: </a:t>
            </a:r>
            <a:r>
              <a:rPr lang="en-US" altLang="zh-CN" sz="1000" dirty="0">
                <a:solidFill>
                  <a:schemeClr val="accent3"/>
                </a:solidFill>
                <a:hlinkClick r:id="rId4"/>
              </a:rPr>
              <a:t>https://www.linkedin.com/pulse/untangling-pointer-authentication-pac-deeper-dive-samarth-parikh-kycyc/</a:t>
            </a:r>
            <a:r>
              <a:rPr lang="en-US" altLang="zh-CN" sz="1000" dirty="0">
                <a:solidFill>
                  <a:schemeClr val="accent3"/>
                </a:solidFill>
              </a:rPr>
              <a:t> (right)</a:t>
            </a:r>
            <a:endParaRPr lang="zh-CN" altLang="en-US" sz="1000" dirty="0">
              <a:solidFill>
                <a:schemeClr val="accent3"/>
              </a:solidFill>
            </a:endParaRP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EF253CA3-3237-F684-13B1-676CB67E884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09464" y="1553308"/>
            <a:ext cx="4574289" cy="38847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645773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246DA1-5F84-7210-60D6-AB95417F36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9EA91B5-66B3-3E59-AB7E-9F7FB95C09AD}"/>
              </a:ext>
            </a:extLst>
          </p:cNvPr>
          <p:cNvSpPr txBox="1"/>
          <p:nvPr/>
        </p:nvSpPr>
        <p:spPr>
          <a:xfrm>
            <a:off x="3469587" y="289886"/>
            <a:ext cx="488306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3200" dirty="0"/>
              <a:t>Backward-Edge Protection</a:t>
            </a:r>
            <a:endParaRPr lang="zh-CN" altLang="en-US" sz="32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49B74B8-78F3-9445-17C4-5DF9038D964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75994" y="937720"/>
            <a:ext cx="8206381" cy="5045619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A2FFBE56-07B5-251B-DE6B-7EE4ADC70704}"/>
              </a:ext>
            </a:extLst>
          </p:cNvPr>
          <p:cNvSpPr txBox="1"/>
          <p:nvPr/>
        </p:nvSpPr>
        <p:spPr>
          <a:xfrm>
            <a:off x="674020" y="6458247"/>
            <a:ext cx="11374902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zh-CN" sz="1000" dirty="0">
                <a:solidFill>
                  <a:schemeClr val="accent3"/>
                </a:solidFill>
                <a:effectLst/>
              </a:rPr>
              <a:t>“Understanding Hardware-enforced Stack Protection | Microsoft Community Hub,” TECHCOMMUNITY.MICROSOFT.COM. Accessed: Aug. 21, 2026. [Online]. Available: </a:t>
            </a:r>
            <a:r>
              <a:rPr lang="zh-CN" altLang="zh-CN" sz="1000" dirty="0">
                <a:solidFill>
                  <a:schemeClr val="accent3"/>
                </a:solidFill>
                <a:effectLst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https://techcommunity.microsoft.com/blog/windowsosplatform/understanding-hardware-enforced-stack-protection/1247815</a:t>
            </a:r>
            <a:endParaRPr lang="zh-CN" altLang="zh-CN" sz="1000" dirty="0">
              <a:solidFill>
                <a:schemeClr val="accent3"/>
              </a:solidFill>
              <a:effectLst/>
            </a:endParaRPr>
          </a:p>
          <a:p>
            <a:endParaRPr lang="zh-CN" altLang="en-US" sz="1000" dirty="0">
              <a:solidFill>
                <a:schemeClr val="accent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881602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9C8F78-3F81-954C-D2EB-373CB80A2C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89BA11D-BDD7-D388-7441-D1395EC300A7}"/>
              </a:ext>
            </a:extLst>
          </p:cNvPr>
          <p:cNvSpPr txBox="1"/>
          <p:nvPr/>
        </p:nvSpPr>
        <p:spPr>
          <a:xfrm>
            <a:off x="4050324" y="304801"/>
            <a:ext cx="370486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3200" dirty="0"/>
              <a:t>Universal Protection</a:t>
            </a:r>
            <a:endParaRPr lang="zh-CN" altLang="en-US" sz="32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BB141C4-0E73-32FC-9546-712B473BBC2E}"/>
              </a:ext>
            </a:extLst>
          </p:cNvPr>
          <p:cNvSpPr txBox="1"/>
          <p:nvPr/>
        </p:nvSpPr>
        <p:spPr>
          <a:xfrm>
            <a:off x="4724593" y="812045"/>
            <a:ext cx="207460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A diverse category</a:t>
            </a:r>
            <a:endParaRPr lang="zh-CN" altLang="en-US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E6534CC5-BD61-87CA-FBD2-1402F8F28C7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16018" y="1179998"/>
            <a:ext cx="8684572" cy="4947935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256FDAD6-FB03-3798-ABB0-9DA7321BF891}"/>
              </a:ext>
            </a:extLst>
          </p:cNvPr>
          <p:cNvSpPr txBox="1"/>
          <p:nvPr/>
        </p:nvSpPr>
        <p:spPr>
          <a:xfrm>
            <a:off x="476903" y="6457890"/>
            <a:ext cx="1137490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00" dirty="0">
                <a:solidFill>
                  <a:schemeClr val="accent3"/>
                </a:solidFill>
              </a:rPr>
              <a:t>Image created using ChatGPT with prompt “Generate a diagram to illustrate how can branch tracing (such as last branch record or intel performance monitoring unit) be used to identify a disparity in the expected and actual control flow. Make the diagram simplistic but clear. Use no text”</a:t>
            </a:r>
            <a:endParaRPr lang="zh-CN" altLang="en-US" sz="1000" dirty="0">
              <a:solidFill>
                <a:schemeClr val="accent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3927320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003CF0-BCB4-7491-5720-1DAC5AB21D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E9D6AE8-55E9-960A-D105-8025B24CD20A}"/>
              </a:ext>
            </a:extLst>
          </p:cNvPr>
          <p:cNvSpPr txBox="1"/>
          <p:nvPr/>
        </p:nvSpPr>
        <p:spPr>
          <a:xfrm>
            <a:off x="2975304" y="275916"/>
            <a:ext cx="5718232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4000" dirty="0"/>
              <a:t>Observation &amp; </a:t>
            </a:r>
            <a:r>
              <a:rPr lang="en-US" altLang="zh-CN" sz="4000" dirty="0" err="1"/>
              <a:t>Conlusion</a:t>
            </a:r>
            <a:endParaRPr lang="zh-CN" altLang="en-US" sz="40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212A683-4260-B572-B0B0-32A98E370D8E}"/>
              </a:ext>
            </a:extLst>
          </p:cNvPr>
          <p:cNvSpPr txBox="1"/>
          <p:nvPr/>
        </p:nvSpPr>
        <p:spPr>
          <a:xfrm>
            <a:off x="3217250" y="3125493"/>
            <a:ext cx="627126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 dirty="0"/>
              <a:t>* Defenses are retrofitting hardware primitives</a:t>
            </a:r>
            <a:endParaRPr lang="zh-CN" altLang="en-US" sz="24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F51F3A8-4DFC-08A5-ECBF-CDFD1F8D8B97}"/>
              </a:ext>
            </a:extLst>
          </p:cNvPr>
          <p:cNvSpPr txBox="1"/>
          <p:nvPr/>
        </p:nvSpPr>
        <p:spPr>
          <a:xfrm>
            <a:off x="3217251" y="1710825"/>
            <a:ext cx="472597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 dirty="0"/>
              <a:t>* CFG generation is the bottleneck</a:t>
            </a:r>
            <a:endParaRPr lang="zh-CN" altLang="en-US" sz="24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E02BDFB-29FD-D7AA-5A82-C11E833B00CE}"/>
              </a:ext>
            </a:extLst>
          </p:cNvPr>
          <p:cNvSpPr txBox="1"/>
          <p:nvPr/>
        </p:nvSpPr>
        <p:spPr>
          <a:xfrm>
            <a:off x="3217250" y="2418159"/>
            <a:ext cx="562846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 dirty="0"/>
              <a:t>* Universal protections: awkward position</a:t>
            </a:r>
            <a:endParaRPr lang="zh-CN" altLang="en-US" sz="240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C3043BC-D166-0AB4-4FFD-B7D89A36BF3B}"/>
              </a:ext>
            </a:extLst>
          </p:cNvPr>
          <p:cNvSpPr txBox="1"/>
          <p:nvPr/>
        </p:nvSpPr>
        <p:spPr>
          <a:xfrm>
            <a:off x="3217250" y="3832827"/>
            <a:ext cx="366799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 dirty="0"/>
              <a:t>* Unsatisfactory portability</a:t>
            </a:r>
            <a:endParaRPr lang="zh-CN" altLang="en-US" sz="2400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8855210-EBA2-02B6-D97C-3CAEC5B5C2E5}"/>
              </a:ext>
            </a:extLst>
          </p:cNvPr>
          <p:cNvSpPr txBox="1"/>
          <p:nvPr/>
        </p:nvSpPr>
        <p:spPr>
          <a:xfrm>
            <a:off x="3217250" y="4540161"/>
            <a:ext cx="457849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 dirty="0"/>
              <a:t>* Composability is underexplored</a:t>
            </a:r>
            <a:endParaRPr lang="zh-CN" altLang="en-US" sz="2400" dirty="0"/>
          </a:p>
        </p:txBody>
      </p:sp>
    </p:spTree>
    <p:extLst>
      <p:ext uri="{BB962C8B-B14F-4D97-AF65-F5344CB8AC3E}">
        <p14:creationId xmlns:p14="http://schemas.microsoft.com/office/powerpoint/2010/main" val="13750491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5" grpId="0"/>
      <p:bldP spid="7" grpId="0"/>
      <p:bldP spid="13" grpId="0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1343</TotalTime>
  <Words>1249</Words>
  <Application>Microsoft Office PowerPoint</Application>
  <PresentationFormat>Widescreen</PresentationFormat>
  <Paragraphs>44</Paragraphs>
  <Slides>9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4" baseType="lpstr">
      <vt:lpstr>等线</vt:lpstr>
      <vt:lpstr>等线 Light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Haorong Xu</dc:creator>
  <cp:lastModifiedBy>Haorong Xu</cp:lastModifiedBy>
  <cp:revision>28</cp:revision>
  <dcterms:created xsi:type="dcterms:W3CDTF">2026-08-21T12:54:37Z</dcterms:created>
  <dcterms:modified xsi:type="dcterms:W3CDTF">2026-08-30T14:55:52Z</dcterms:modified>
</cp:coreProperties>
</file>